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17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3544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191D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C9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</a:rPr>
              <a:t>CNC 自动化上下料客户端 · AI 模型测评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35C9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CNC 客户端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编程模型测评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6F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Code Opus 4.8  vs  GLM-5.2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差异对比 · 选型建议 · CNC 项目实测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r>
              <a:rPr 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zh-CN" alt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邬学瑞</a:t>
            </a:r>
            <a:r>
              <a:rPr 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2026 年 7 月</a:t>
            </a:r>
            <a:endParaRPr lang="en-US" sz="1300" dirty="0"/>
          </a:p>
        </p:txBody>
      </p:sp>
      <p:pic>
        <p:nvPicPr>
          <p:cNvPr id="8" name="Image 0" descr="C:\Users\75626\Desktop\CNC\docs\ppt-assets\02-shell-ma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69280" y="1371600"/>
            <a:ext cx="3200400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solidFill>
            <a:srgbClr val="232830"/>
          </a:solidFill>
          <a:ln w="19050">
            <a:solidFill>
              <a:srgbClr val="135C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640080" y="1124712"/>
            <a:ext cx="78638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GLM-5.2 不能替代 Opus，但可作为 Cursor 日常主力；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Opus 留给关键一次性任务。按场景分模型，而非二选一。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8229600" cy="14782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对比项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Opus 4.8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GLM-5.2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任务完成率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9CA3A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 1%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首答正确率 Pass@1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领先 ~6 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需多轮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 更稳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多轮后 Pass@3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接近 Opus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可迭代场景划算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输出成本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$75/M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$4.40/M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便宜 ~17×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上下文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1M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两者核心差异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96596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Code Opus 4.8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GLM-5.2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关键任务专用（i9）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日常 coding 主力（i5）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首答质量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一次到位，Pass@1 领先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 2～3 轮迭代才接近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复杂工程 L4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 / 协议 / Agent 多步更强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超长马拉松仍有 ~13% 差距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长上下文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200K，大 Monorepo 受限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1M，跨文件搜索有优势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代码风格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极简 diff，少返工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倾向多迭代，Token 消耗更高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高（$75/M 输出）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低（$4.40/M，~17× 便宜）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闭源订阅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MIT 开源，可本地部署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Shape 1"/>
          <p:cNvSpPr/>
          <p:nvPr/>
        </p:nvSpPr>
        <p:spPr>
          <a:xfrm>
            <a:off x="457200" y="4160520"/>
            <a:ext cx="8229600" cy="640080"/>
          </a:xfrm>
          <a:prstGeom prst="rect">
            <a:avLst/>
          </a:prstGeom>
          <a:solidFill>
            <a:srgbClr val="232830"/>
          </a:solidFill>
          <a:ln w="19050">
            <a:solidFill>
              <a:srgbClr val="C2710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640080" y="4233672"/>
            <a:ext cx="7863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决策口诀：能改、能迭代 → GLM ｜ 不能错、一次定 → Opus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什么任务用谁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9659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推荐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核心理由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CRUD / 业务逻辑 / API 对接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GLM-5.2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可多轮迭代，Pass@3 接近 Opus，成本低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长文件重构 / 跨文件搜索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GLM-5.2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1M 上下文，Opus 200K 的 5 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架构设计 / 多工程分层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 4.8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L4 高难，首答更稳，少返工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工业协议 / 底层通信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 4.8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边界情况多，不能靠多轮碰运气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生产配置 / 安全代码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 4.8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无修正机会，Pass@1 决定成败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多步自主任务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 4.8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容错率低，一步错步步错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看图还原 UI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视觉模型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两者均为纯文本模型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CNC 项目测评概况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WPF 工位机 · .NET 8 · 6 工程 · 17 表 · 8 页 · Modbus / FINS 双协议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进度：Phase 1～3、5 + FINS ✅  ·  Phase 4 状态机、Phase 6 联调 ⏳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5303520" cy="18745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Opus 4.8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GLM-5.2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主导开发阶段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Phase1-3/5 + FINS + UI + 文档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Phase3补全/5/日常CRUD(估)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综合评分 /5（加权）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首次可运行率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88%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72%(估)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平均交互轮次 / 任务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5.6 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8.5 轮(估)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L4 高难均分（A+D）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3.65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常规均分（E+F+H）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5943600" y="1051560"/>
            <a:ext cx="2926080" cy="2148840"/>
          </a:xfrm>
          <a:prstGeom prst="rect">
            <a:avLst/>
          </a:prstGeom>
          <a:solidFill>
            <a:srgbClr val="232830"/>
          </a:solidFill>
          <a:ln w="12700">
            <a:solidFill>
              <a:srgbClr val="135C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C:\Users\75626\Desktop\CNC\docs\ppt-assets\02-shell-ma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80176" y="1088136"/>
            <a:ext cx="2852928" cy="17647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89320" y="287121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主界面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989320" y="3035808"/>
            <a:ext cx="2834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1 主壳 + 导航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5943600" y="3337560"/>
            <a:ext cx="2926080" cy="1417320"/>
          </a:xfrm>
          <a:prstGeom prst="rect">
            <a:avLst/>
          </a:prstGeom>
          <a:solidFill>
            <a:srgbClr val="232830"/>
          </a:solidFill>
          <a:ln w="9525">
            <a:solidFill>
              <a:srgbClr val="3D445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943600" y="347472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请放入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01-cursor-dev.png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989320" y="442569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Cursor 开发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989320" y="4590288"/>
            <a:ext cx="2834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/ 模型切换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progress.md Session 1～18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开发过程截图 · 上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1874520"/>
          </a:xfrm>
          <a:prstGeom prst="rect">
            <a:avLst/>
          </a:prstGeom>
          <a:solidFill>
            <a:srgbClr val="232830"/>
          </a:solidFill>
          <a:ln w="9525">
            <a:solidFill>
              <a:srgbClr val="3D445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651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请放入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01-cursor-dev.png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259689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Cursor 开发界面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2761488"/>
            <a:ext cx="2560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辅助编码：模型切换 / Agent 对话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46120" y="1051560"/>
            <a:ext cx="2651760" cy="1874520"/>
          </a:xfrm>
          <a:prstGeom prst="rect">
            <a:avLst/>
          </a:prstGeom>
          <a:solidFill>
            <a:srgbClr val="232830"/>
          </a:solidFill>
          <a:ln w="12700">
            <a:solidFill>
              <a:srgbClr val="135C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8" name="Image 0" descr="C:\Users\75626\Desktop\CNC\docs\ppt-assets\02-shell-ma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82696" y="1088136"/>
            <a:ext cx="2578608" cy="1490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91840" y="259689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主界面 · 深色工业风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91840" y="2761488"/>
            <a:ext cx="2560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1 六工程 + WPF 主壳 · 8 页导航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035040" y="1051560"/>
            <a:ext cx="2651760" cy="1874520"/>
          </a:xfrm>
          <a:prstGeom prst="rect">
            <a:avLst/>
          </a:prstGeom>
          <a:solidFill>
            <a:srgbClr val="232830"/>
          </a:solidFill>
          <a:ln w="12700">
            <a:solidFill>
              <a:srgbClr val="135C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2" name="Image 1" descr="C:\Users\75626\Desktop\CNC\docs\ppt-assets\03-plc-manag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71616" y="1088136"/>
            <a:ext cx="2578608" cy="1490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080760" y="259689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PLC 管理 · 读写/点位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080760" y="2761488"/>
            <a:ext cx="2560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2 · 3 PLC 在线 · Modbus/FINS 双协议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开发过程截图 · 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1874520"/>
          </a:xfrm>
          <a:prstGeom prst="rect">
            <a:avLst/>
          </a:prstGeom>
          <a:solidFill>
            <a:srgbClr val="232830"/>
          </a:solidFill>
          <a:ln w="12700">
            <a:solidFill>
              <a:srgbClr val="135C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" name="Image 0" descr="C:\Users\75626\Desktop\CNC\docs\ppt-assets\04-config-cru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3776" y="1088136"/>
            <a:ext cx="2578608" cy="1490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59689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配置管理 CRUD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2761488"/>
            <a:ext cx="2560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3 · 线体/工序/机台/料架 · 引用校验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3246120" y="1051560"/>
            <a:ext cx="2651760" cy="1874520"/>
          </a:xfrm>
          <a:prstGeom prst="rect">
            <a:avLst/>
          </a:prstGeom>
          <a:solidFill>
            <a:srgbClr val="232830"/>
          </a:solidFill>
          <a:ln w="12700">
            <a:solidFill>
              <a:srgbClr val="135C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8" name="Image 1" descr="C:\Users\75626\Desktop\CNC\docs\ppt-assets\05-agv-sca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82696" y="1088136"/>
            <a:ext cx="2578608" cy="1490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91840" y="259689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外设测试页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3291840" y="2761488"/>
            <a:ext cx="2560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5 · AGV / 扫码枪 · 原型还原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6035040" y="1051560"/>
            <a:ext cx="2651760" cy="1874520"/>
          </a:xfrm>
          <a:prstGeom prst="rect">
            <a:avLst/>
          </a:prstGeom>
          <a:solidFill>
            <a:srgbClr val="232830"/>
          </a:solidFill>
          <a:ln w="9525">
            <a:solidFill>
              <a:srgbClr val="3D445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8"/>
          <p:cNvSpPr/>
          <p:nvPr/>
        </p:nvSpPr>
        <p:spPr>
          <a:xfrm>
            <a:off x="6035040" y="1188720"/>
            <a:ext cx="2651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请放入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06-build-terminal.png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6080760" y="259689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构建验证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080760" y="2761488"/>
            <a:ext cx="2560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dotnet build 0 警告 0 错误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WPF 截图可覆盖原型占位图 · 素材目录：docs/ppt-assets/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CNC 用例得分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37744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GLM-5.2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差异一句话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Phase 1 六工程架构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D628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Opus一次build通过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Phase 2 PLC 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271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写流水/引用校验更完整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Phase 3 配置 CRUD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271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软删过滤经4轮补全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FINS/UDP 协议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D628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手写协议+现场边界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AGV/扫码枪页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L2差距最小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XAML 栈溢出修复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 1轮定位根因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UI 工业风重设计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271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多文件XAML同步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文档整合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文档GLM性价比较好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77640"/>
            <a:ext cx="2651760" cy="960120"/>
          </a:xfrm>
          <a:prstGeom prst="rect">
            <a:avLst/>
          </a:prstGeom>
          <a:solidFill>
            <a:srgbClr val="232830"/>
          </a:solidFill>
          <a:ln w="12700">
            <a:solidFill>
              <a:srgbClr val="135C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Image 0" descr="C:\Users\75626\Desktop\CNC\docs\ppt-assets\03-plc-manag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3776" y="4014216"/>
            <a:ext cx="2578608" cy="57607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46085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PLC 页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4773168"/>
            <a:ext cx="2560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 B/D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3246120" y="3977640"/>
            <a:ext cx="2651760" cy="960120"/>
          </a:xfrm>
          <a:prstGeom prst="rect">
            <a:avLst/>
          </a:prstGeom>
          <a:solidFill>
            <a:srgbClr val="232830"/>
          </a:solidFill>
          <a:ln w="12700">
            <a:solidFill>
              <a:srgbClr val="135C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1" descr="C:\Users\75626\Desktop\CNC\docs\ppt-assets\04-config-cru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82696" y="4014216"/>
            <a:ext cx="2578608" cy="57607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291840" y="46085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 CRUD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291840" y="4773168"/>
            <a:ext cx="2560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 C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6035040" y="3977640"/>
            <a:ext cx="2651760" cy="960120"/>
          </a:xfrm>
          <a:prstGeom prst="rect">
            <a:avLst/>
          </a:prstGeom>
          <a:solidFill>
            <a:srgbClr val="232830"/>
          </a:solidFill>
          <a:ln w="9525">
            <a:solidFill>
              <a:srgbClr val="3D445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8"/>
          <p:cNvSpPr/>
          <p:nvPr/>
        </p:nvSpPr>
        <p:spPr>
          <a:xfrm>
            <a:off x="6035040" y="41148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请放入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06-build-terminal.png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6080760" y="46085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构建通过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080760" y="4773168"/>
            <a:ext cx="2560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首次可用率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本项目选型建议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55448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本项目推荐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实测依据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C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 / 多工程分层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 4.8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用例 A：5.0 vs 4.0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工业协议 Modbus / FINS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 4.8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用例 D：4.3 vs 3.3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CRUD + UI 页面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GLM-5.2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用例 C/E：L2-L3 差距≤0.6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 定位与修复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6FE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Opus 4.8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用例 F：1轮 vs 估2轮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 / 方案撰写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GLM-5.2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8EBE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用例 H：4.3 vs 4.0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46120"/>
            <a:ext cx="8229600" cy="1097280"/>
          </a:xfrm>
          <a:prstGeom prst="rect">
            <a:avLst/>
          </a:prstGeom>
          <a:solidFill>
            <a:srgbClr val="232830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640080" y="3319272"/>
            <a:ext cx="78638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Cursor 策略：日常 CRUD/文档切 GLM-5.2 → 架构/协议/FINS/关键 Bug 切 Opus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综合分 Opus 4.34 vs GLM 3.70 · Phase4 状态机完成后补测 L4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Q&amp;A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Q：GLM-5.2 能全替 Opus 吗？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A：不能。L4 高难和 Pass@1 场景 Opus 仍领先；差 1% 能力，差 17× 成本。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Q：为什么不在 Cursor 里统一用一个？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A：日常 CRUD 用 GLM 省成本；架构/协议/安全代码用 Opus 保质量。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Q：怎么试 GLM 是否适合我们？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A：Cursor 切 GLM-5.2，挑 CRUD 任务，看 build 通过 + 几轮迭代。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Q：结论什么时候更新？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8EB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A：Phase 4 状态机、Phase 6 联调完成后补测并更新截图与得分。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795</Words>
  <Application>Microsoft Office PowerPoint</Application>
  <PresentationFormat>全屏显示(16:9)</PresentationFormat>
  <Paragraphs>246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CNC客户端 AI编程模型测评</dc:title>
  <dc:subject>Claude Code Opus 4.8 vs GLM-5.2</dc:subject>
  <dc:creator>瑞小米</dc:creator>
  <cp:lastModifiedBy>xiaomi rui</cp:lastModifiedBy>
  <cp:revision>2</cp:revision>
  <dcterms:created xsi:type="dcterms:W3CDTF">2026-07-02T03:18:20Z</dcterms:created>
  <dcterms:modified xsi:type="dcterms:W3CDTF">2026-07-02T04:24:05Z</dcterms:modified>
</cp:coreProperties>
</file>